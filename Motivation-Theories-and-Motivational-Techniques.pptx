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rben" panose="020B0604020202020204" charset="0"/>
      <p:regular r:id="rId13"/>
    </p:embeddedFont>
    <p:embeddedFont>
      <p:font typeface="Nobile" panose="020B0604020202020204" charset="0"/>
      <p:regular r:id="rId14"/>
    </p:embeddedFont>
    <p:embeddedFont>
      <p:font typeface="Nobile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031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22735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Motivation Theories and</a:t>
            </a:r>
          </a:p>
          <a:p>
            <a:pPr marL="0" indent="0" algn="just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Motivational Techniques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621310"/>
            <a:ext cx="8151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3000"/>
              </a:lnSpc>
              <a:spcAft>
                <a:spcPts val="1250"/>
              </a:spcAft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Principles of Management 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(MG1701A)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Unit IV –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Directing 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·</a:t>
            </a:r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Presenter: [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SARANG M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], Register No: [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111923CB01048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],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Dept. of [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CSE Cyber Security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]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D8BD1-4BA2-D9C1-4E52-83797664C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661" y="4808794"/>
            <a:ext cx="1508891" cy="266723"/>
          </a:xfrm>
          <a:prstGeom prst="rect">
            <a:avLst/>
          </a:prstGeom>
        </p:spPr>
      </p:pic>
      <p:pic>
        <p:nvPicPr>
          <p:cNvPr id="7" name="Picture 6" descr="S.A. Engineering College">
            <a:extLst>
              <a:ext uri="{FF2B5EF4-FFF2-40B4-BE49-F238E27FC236}">
                <a16:creationId xmlns:a16="http://schemas.microsoft.com/office/drawing/2014/main" id="{EEBF4CBF-EF02-F32F-E40B-3E6279873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529" y="169508"/>
            <a:ext cx="4244929" cy="6886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7AAED0-2A53-F7BA-50F7-9F946FC5B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9452" y="0"/>
            <a:ext cx="3857624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51719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Introduction to Motivation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818680"/>
            <a:ext cx="472276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Definition: Motivation is the internal and external forces that stimulate goal-directed behavior.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Objectives: Stimulate performance, align individual goals with organizational goals, and sustain effort.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Importance in management: Drives productivity, improves engagement, and enables effective directing.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343815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Speaker note: Emphasize connection between motivation and managerial responsibility to design meaningful work.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06687"/>
            <a:ext cx="3053135" cy="17300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1250007"/>
            <a:ext cx="475267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Why Motivation Matters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99892" y="1746126"/>
            <a:ext cx="4752677" cy="2239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Improves productivity — employees perform more consistently and efficiently.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Increases job satisfaction — fosters commitment and morale.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Reduces turnover — motivated staff stay longer, lowering recruitment cost.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Enhances teamwork — collaboration increases when people feel valued.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Encourages innovation — motivated teams take initiative and suggest improvements.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FA9DE2-3573-8DCE-B10A-062D54B1C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3627" y="4808794"/>
            <a:ext cx="1508891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022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Maslow's Hierarchy of Needs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6207"/>
            <a:ext cx="8151763" cy="373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67310" y="1120146"/>
            <a:ext cx="1987578" cy="450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Outer: Foundational Needs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67310" y="1635073"/>
            <a:ext cx="1987578" cy="29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Social, safety, and physiological essentials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2951" y="2385800"/>
            <a:ext cx="1803247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Middle: Esteem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8908" y="2675321"/>
            <a:ext cx="1827290" cy="439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5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Recognition, achievement, and confidence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67310" y="2979493"/>
            <a:ext cx="1987578" cy="450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Core: Self‑Actualization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67310" y="3494420"/>
            <a:ext cx="1987578" cy="29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Personal growth and meaningful work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4519092"/>
            <a:ext cx="8151763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Physiological: Basic survival needs. Safety: Job security, safe workplace. Social: Team belonging and relationships. Esteem: Recognition and achievement. Self‑Actualization: Personal growth and meaningful work.</a:t>
            </a:r>
            <a:endParaRPr lang="en-US" sz="6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391DF5-9603-1980-3035-22BB4D6DE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661" y="4808794"/>
            <a:ext cx="1508891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13619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Herzberg's Two‑Factor Theory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851496"/>
            <a:ext cx="8151763" cy="1692027"/>
          </a:xfrm>
          <a:prstGeom prst="roundRect">
            <a:avLst>
              <a:gd name="adj" fmla="val 351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2265090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903116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1851496"/>
            <a:ext cx="8860" cy="16920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0881" y="1856259"/>
            <a:ext cx="4071119" cy="408831"/>
          </a:xfrm>
          <a:custGeom>
            <a:avLst/>
            <a:gdLst/>
            <a:ahLst/>
            <a:cxnLst/>
            <a:rect l="l" t="t" r="r" b="b"/>
            <a:pathLst>
              <a:path w="4071119" h="408831">
                <a:moveTo>
                  <a:pt x="49619" y="0"/>
                </a:moveTo>
                <a:lnTo>
                  <a:pt x="4071119" y="0"/>
                </a:lnTo>
                <a:lnTo>
                  <a:pt x="4071119" y="408831"/>
                </a:lnTo>
                <a:lnTo>
                  <a:pt x="0" y="408831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4967E9"/>
          </a:solidFill>
          <a:ln/>
        </p:spPr>
      </p:sp>
      <p:sp>
        <p:nvSpPr>
          <p:cNvPr id="8" name="Text 6"/>
          <p:cNvSpPr/>
          <p:nvPr/>
        </p:nvSpPr>
        <p:spPr>
          <a:xfrm>
            <a:off x="642640" y="1946077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Hygiene Factors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856259"/>
            <a:ext cx="4071119" cy="408831"/>
          </a:xfrm>
          <a:custGeom>
            <a:avLst/>
            <a:gdLst/>
            <a:ahLst/>
            <a:cxnLst/>
            <a:rect l="l" t="t" r="r" b="b"/>
            <a:pathLst>
              <a:path w="4071119" h="408831">
                <a:moveTo>
                  <a:pt x="0" y="0"/>
                </a:moveTo>
                <a:lnTo>
                  <a:pt x="4021500" y="0"/>
                </a:lnTo>
                <a:arcTo wR="49619" hR="49619" stAng="16200000" swAng="5400000"/>
                <a:lnTo>
                  <a:pt x="4071119" y="408831"/>
                </a:lnTo>
                <a:lnTo>
                  <a:pt x="0" y="408831"/>
                </a:lnTo>
                <a:lnTo>
                  <a:pt x="0" y="0"/>
                </a:lnTo>
                <a:close/>
              </a:path>
            </a:pathLst>
          </a:custGeom>
          <a:solidFill>
            <a:srgbClr val="4967E9"/>
          </a:solidFill>
          <a:ln/>
        </p:spPr>
      </p:sp>
      <p:sp>
        <p:nvSpPr>
          <p:cNvPr id="10" name="Text 8"/>
          <p:cNvSpPr/>
          <p:nvPr/>
        </p:nvSpPr>
        <p:spPr>
          <a:xfrm>
            <a:off x="4716140" y="1946077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Motivators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640" y="2357289"/>
            <a:ext cx="37852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Salary, company policies, working conditions — prevent dissatisfaction.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16140" y="2357289"/>
            <a:ext cx="37852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Achievement, recognition, responsibility — drive satisfaction and performance.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640" y="2995315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Example: Safe lab equipment, clear HR policies.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16140" y="2995315"/>
            <a:ext cx="37852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Example: Project ownership, public recognition for technical innovation.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70299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Speaker tip: Fix hygiene issues first; then invest in motivators to boost long-term performance.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DC5C07C-9DF4-ACD2-2124-CE6848C69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661" y="4808794"/>
            <a:ext cx="1508891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13619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McGregor's Theory X and Theory 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851496"/>
            <a:ext cx="8151763" cy="1692027"/>
          </a:xfrm>
          <a:prstGeom prst="roundRect">
            <a:avLst>
              <a:gd name="adj" fmla="val 351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2265090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903116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0881" y="1856259"/>
            <a:ext cx="4071119" cy="408831"/>
          </a:xfrm>
          <a:custGeom>
            <a:avLst/>
            <a:gdLst/>
            <a:ahLst/>
            <a:cxnLst/>
            <a:rect l="l" t="t" r="r" b="b"/>
            <a:pathLst>
              <a:path w="4071119" h="408831">
                <a:moveTo>
                  <a:pt x="49619" y="0"/>
                </a:moveTo>
                <a:lnTo>
                  <a:pt x="4071119" y="0"/>
                </a:lnTo>
                <a:lnTo>
                  <a:pt x="4071119" y="408831"/>
                </a:lnTo>
                <a:lnTo>
                  <a:pt x="0" y="408831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4967E9"/>
          </a:solidFill>
          <a:ln/>
        </p:spPr>
      </p:sp>
      <p:sp>
        <p:nvSpPr>
          <p:cNvPr id="7" name="Text 5"/>
          <p:cNvSpPr/>
          <p:nvPr/>
        </p:nvSpPr>
        <p:spPr>
          <a:xfrm>
            <a:off x="642640" y="1946077"/>
            <a:ext cx="42448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Theory 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856259"/>
            <a:ext cx="4071119" cy="408831"/>
          </a:xfrm>
          <a:custGeom>
            <a:avLst/>
            <a:gdLst/>
            <a:ahLst/>
            <a:cxnLst/>
            <a:rect l="l" t="t" r="r" b="b"/>
            <a:pathLst>
              <a:path w="4071119" h="408831">
                <a:moveTo>
                  <a:pt x="0" y="0"/>
                </a:moveTo>
                <a:lnTo>
                  <a:pt x="4021500" y="0"/>
                </a:lnTo>
                <a:arcTo wR="49619" hR="49619" stAng="16200000" swAng="5400000"/>
                <a:lnTo>
                  <a:pt x="4071119" y="408831"/>
                </a:lnTo>
                <a:lnTo>
                  <a:pt x="0" y="408831"/>
                </a:lnTo>
                <a:lnTo>
                  <a:pt x="0" y="0"/>
                </a:lnTo>
                <a:close/>
              </a:path>
            </a:pathLst>
          </a:custGeom>
          <a:solidFill>
            <a:srgbClr val="4967E9"/>
          </a:solidFill>
          <a:ln/>
        </p:spPr>
      </p:sp>
      <p:sp>
        <p:nvSpPr>
          <p:cNvPr id="9" name="Text 7"/>
          <p:cNvSpPr/>
          <p:nvPr/>
        </p:nvSpPr>
        <p:spPr>
          <a:xfrm>
            <a:off x="4713759" y="1946077"/>
            <a:ext cx="42448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Theory 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2640" y="2357289"/>
            <a:ext cx="37876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Assumes employees dislike work, need control, prefer direction.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13759" y="2357289"/>
            <a:ext cx="37876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Assumes employees are self-motivated, seek responsibility, can be creative.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640" y="2995315"/>
            <a:ext cx="37876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Manager approach: Tight supervision, formal systems, rewards/punishments.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13759" y="2995315"/>
            <a:ext cx="37876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Manager approach: Participative leadership, delegation, developmental feedback.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119" y="370299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Application: Engineering teams benefit from a Theory Y approach for innovation-driven projects.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D78000-8EF0-B64B-A228-B677DBA21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661" y="4808794"/>
            <a:ext cx="1508891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06687"/>
            <a:ext cx="3053135" cy="17300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1196801"/>
            <a:ext cx="475267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McClelland's Need Theory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99892" y="1692920"/>
            <a:ext cx="4752677" cy="1686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Need for Achievement (nAch):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Drives goal-setting, prefers challenging but achievable tasks. Example: lead a capstone project.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Need for Power (nPow):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Seeks influence and impact. Example: lead technical committees or mentor juniors.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Need for Affiliation (nAff):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Values relationships and teamwork. Example: cross-functional team roles and peer recognition.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99892" y="3507284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Tip: Match roles and incentives to dominant needs to improve fit and performance.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822529-A810-7923-FAFB-E17C28201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661" y="4808794"/>
            <a:ext cx="1508891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2650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Motivational Techniques — Practical Toolkit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20527"/>
            <a:ext cx="419100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2398" y="1120527"/>
            <a:ext cx="130872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Financial incentives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2398" y="1648495"/>
            <a:ext cx="130872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Bonuses, performance-linked pay, profit sharing.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120527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74578" y="1120527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Recognition &amp; appreciation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174578" y="1648495"/>
            <a:ext cx="13087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Public praise, awards, technical showcases.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120527"/>
            <a:ext cx="419100" cy="4191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56833" y="1120527"/>
            <a:ext cx="13087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Participation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56833" y="1427038"/>
            <a:ext cx="13087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Involve employees in decision-making and process improvement.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120527"/>
            <a:ext cx="419100" cy="4191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9087" y="1120527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Job enrichment &amp; rotation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9087" y="1648495"/>
            <a:ext cx="130879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Expand responsibilities, rotate tasks to build skills and reduce monotony.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066083"/>
            <a:ext cx="419100" cy="4191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92398" y="3066083"/>
            <a:ext cx="130872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Career development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092398" y="3594050"/>
            <a:ext cx="130872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Training, mentoring, clear promotion paths.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8298" y="3066083"/>
            <a:ext cx="419100" cy="4191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174578" y="3066083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Empowerment &amp; flexibility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3174578" y="3594050"/>
            <a:ext cx="13087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Autonomy, flexible schedules, and supportive policies.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496119" y="443396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a mix of financial and intrinsic approaches tailored to team needs.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5A46A1D-19AF-682E-A6F8-2A099D26D7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0661" y="4808794"/>
            <a:ext cx="1508891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65883"/>
            <a:ext cx="3902943" cy="22116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945207"/>
            <a:ext cx="390294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Real‑Life Applications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749701" y="1441326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Google: Autonomy, 20% time-style projects, strong recognition culture.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Microsoft: Career pathways, technical fellowships, performance bonuses.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TCS: Structured career development, certification programs, stable rewards.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Infosys: Training academies, global project exposure, employee recognition systems.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49701" y="3532063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lesson: Combine organizational systems (Hygiene) with motivators (growth, recognition) for sustainable engagement.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0FB0B9-6104-459D-88CF-600BFE779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661" y="4808794"/>
            <a:ext cx="1508891" cy="2667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0953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Conclusion &amp; Key Takeaways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808113"/>
            <a:ext cx="4722763" cy="2239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Motivation links individual needs to organizational goals — crucial for directing.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Select theories and techniques based on context: hygiene first, then motivators.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Align roles with intrinsic needs (achievement, power, affiliation) for better fit.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Blend financial, developmental, and cultural practices for lasting engagement.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Questions?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420714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D6D892-08E5-07B8-A423-D86121EA6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661" y="4808794"/>
            <a:ext cx="1508891" cy="2667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675</Words>
  <Application>Microsoft Office PowerPoint</Application>
  <PresentationFormat>On-screen Show (16:9)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Nobile Bold</vt:lpstr>
      <vt:lpstr>Arial</vt:lpstr>
      <vt:lpstr>Corben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SARANG M</cp:lastModifiedBy>
  <cp:revision>6</cp:revision>
  <dcterms:created xsi:type="dcterms:W3CDTF">2026-08-06T13:14:45Z</dcterms:created>
  <dcterms:modified xsi:type="dcterms:W3CDTF">2026-08-06T13:31:19Z</dcterms:modified>
</cp:coreProperties>
</file>